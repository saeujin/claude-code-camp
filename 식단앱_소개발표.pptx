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15초)</a:t>
            </a:r>
          </a:p>
          <a:p>
            <a:r>
              <a:t>안녕하세요. 저희가 만들고 있는 식단 관리 웹 앱을 소개하겠습니다.</a:t>
            </a:r>
          </a:p>
          <a:p>
            <a:r>
              <a:t>한 줄로 말하면, '먹은 것을 기록하는 앱'이 아니라 '다음에 무엇을 먹을지 알려주는 앱'입니다.</a:t>
            </a:r>
          </a:p>
          <a:p>
            <a:r>
              <a:t>저 아래 네 가지 질문에 답하는 것이 이 앱의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30초)</a:t>
            </a:r>
          </a:p>
          <a:p>
            <a:r>
              <a:t>문제는 정보가 부족한 게 아닙니다. 칼로리를 다 적어놔도, 그 숫자가 나에게 많은 건지 적은 건지는 알 수 없습니다.</a:t>
            </a:r>
          </a:p>
          <a:p>
            <a:r>
              <a:t>기준선이 없으니까요.</a:t>
            </a:r>
          </a:p>
          <a:p>
            <a:r>
              <a:t>사용자가 진짜 궁금한 건 이 네 가지입니다. 하루에 몇 칼로리를 먹어야 하는지, 운동한 만큼 더 먹어도 되는지,</a:t>
            </a:r>
          </a:p>
          <a:p>
            <a:r>
              <a:t>지금까지 먹은 걸 감안하면 다음 끼니는 뭘 먹어야 하는지, 그리고 냉장고에 있는 걸로 뭘 만들 수 있는지.</a:t>
            </a:r>
          </a:p>
          <a:p>
            <a:r>
              <a:t>기존 앱들은 첫 번째 질문조차 제대로 답해주지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</a:t>
            </a:r>
          </a:p>
          <a:p>
            <a:r>
              <a:t>저희 접근은 단순합니다. 목표 칼로리라는 기준선을 먼저 세우고, 모든 추천을 그 기준선과의 '차이'로 계산합니다.</a:t>
            </a:r>
          </a:p>
          <a:p>
            <a:r>
              <a:t>핵심은 이 기준선이 고정값이 아니라는 점입니다. 기본 목표는 목표 체중과 기간에서 역산해 하루 동안 고정이지만,</a:t>
            </a:r>
          </a:p>
          <a:p>
            <a:r>
              <a:t>오늘 목표는 운동을 기록할 때마다 늘어납니다.</a:t>
            </a:r>
          </a:p>
          <a:p>
            <a:r>
              <a:t>그래서 활동 수준을 고를 때 운동 빈도를 넣지 않습니다. 일상 활동만 고르게 하고 운동은 따로 더합니다.</a:t>
            </a:r>
          </a:p>
          <a:p>
            <a:r>
              <a:t>같은 운동을 두 번 세지 않기 위한 설계입니다.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</a:t>
            </a:r>
          </a:p>
          <a:p>
            <a:r>
              <a:t>계산 구조는 이렇게 한 줄로 이어집니다.</a:t>
            </a:r>
          </a:p>
          <a:p>
            <a:r>
              <a:t>신체 정보에서 기초대사량을, 거기에 일상 활동을 더해 하루 소비량을 구합니다.</a:t>
            </a:r>
          </a:p>
          <a:p>
            <a:r>
              <a:t>여기에 목표 체중과 기간을 넣으면 기본 목표가 나오고, 오늘 운동을 더하면 오늘 목표가 됩니다.</a:t>
            </a:r>
          </a:p>
          <a:p>
            <a:r>
              <a:t>먹은 걸 빼면 잔여 칼로리가 나오고, 이 잔여 칼로리가 추천 기능의 입력이 됩니다.</a:t>
            </a:r>
          </a:p>
          <a:p>
            <a:r>
              <a:t>중요한 건 이 과정을 숨기지 않는다는 점입니다. 단계별 숫자를 다 보여줘서 사용자가 왜 이 값인지 알 수 있게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20초)</a:t>
            </a:r>
          </a:p>
          <a:p>
            <a:r>
              <a:t>기능은 일곱 개이고, 역할로 묶으면 네 덩어리입니다.</a:t>
            </a:r>
          </a:p>
          <a:p>
            <a:r>
              <a:t>F1이 기준선을 세우고, F2·F3·F4가 먹은 것과 운동과 냉장고를 기록하고,</a:t>
            </a:r>
          </a:p>
          <a:p>
            <a:r>
              <a:t>F5·F6이 추천을 만들고, F7이 하루를 한 화면에 요약합니다.</a:t>
            </a:r>
          </a:p>
          <a:p>
            <a:r>
              <a:t>지금부터는 실제 사용자가 하루를 어떻게 쓰는지 순서대로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30초)</a:t>
            </a:r>
          </a:p>
          <a:p>
            <a:r>
              <a:t>첫 화면입니다. 민수가 신체 정보와 목표를 입력하면 세 숫자가 순서대로 나옵니다.</a:t>
            </a:r>
          </a:p>
          <a:p>
            <a:r>
              <a:t>기초대사량 1,699, 하루 소비량 2,039, 기본 목표 1,581 칼로리.</a:t>
            </a:r>
          </a:p>
          <a:p>
            <a:r>
              <a:t>그리고 "5킬로를 12주에 빼려면 하루 458칼로리를 덜 먹어야 하고, 주당 0.42킬로 속도"라고 알려줍니다.</a:t>
            </a:r>
          </a:p>
          <a:p>
            <a:r>
              <a:t>사용자가 자기가 정한 기간이 어떤 속도인지 체감하게 하는 게 중요합니다.</a:t>
            </a:r>
          </a:p>
          <a:p>
            <a:r>
              <a:t>여기서 저희가 신경 쓴 부분은 아래쪽입니다. 이 목표는 기초대사량보다 낮습니다.</a:t>
            </a:r>
          </a:p>
          <a:p>
            <a:r>
              <a:t>그래도 앱이 값을 올려주지 않습니다. 사실만 알려주고, 속도를 정하는 건 사용자의 몫으로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35초)</a:t>
            </a:r>
          </a:p>
          <a:p>
            <a:r>
              <a:t>두 번째입니다. 민수가 출근 전에 30분 조깅을 하고 기록합니다.</a:t>
            </a:r>
          </a:p>
          <a:p>
            <a:r>
              <a:t>운동 종류와 시간만 넣으면 MET 공식으로 311칼로리가 계산됩니다.</a:t>
            </a:r>
          </a:p>
          <a:p>
            <a:r>
              <a:t>그러면 홈 화면 숫자가 바뀝니다. 기본 목표 1,581 더하기 운동 311, 오늘 목표 1,892칼로리.</a:t>
            </a:r>
          </a:p>
          <a:p>
            <a:r>
              <a:t>"운동으로 플러스 311" 이라고 표시해서 왜 늘었는지 보여줍니다. 남은 칼로리도 311만큼 늘어납니다.</a:t>
            </a:r>
          </a:p>
          <a:p>
            <a:r>
              <a:t>어제 떴던 "기초대사량보다 낮아요" 경고도 사라집니다. 목표가 1,892로 올라갔으니까요.</a:t>
            </a:r>
          </a:p>
          <a:p>
            <a:r>
              <a:t>그리고 근력운동을 한 날은 단백질 하한이 체중 곱하기 1.6그램으로 올라갑니다. 감량기 근손실을 막기 위해서입니다.</a:t>
            </a:r>
          </a:p>
          <a:p>
            <a:r>
              <a:t>다만 MET는 추정치라 실제보다 높게 나오는 경향이 있어서, 전부 채우지 말라는 안내를 함께 띄웁니다.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30초)</a:t>
            </a:r>
          </a:p>
          <a:p>
            <a:r>
              <a:t>점심시간. 민수가 "다음 식사 추천"을 누릅니다.</a:t>
            </a:r>
          </a:p>
          <a:p>
            <a:r>
              <a:t>앱은 남은 1,472칼로리를 점심·저녁·간식 세 끼로 나눠 점심 몫을 약 491칼로리로 잡고,</a:t>
            </a:r>
          </a:p>
          <a:p>
            <a:r>
              <a:t>그 범위 안에서 후보를 추립니다. 그리고 오늘 단백질이 101그램 부족한 걸 확인해 단백질 많은 음식을 위로 올립니다.</a:t>
            </a:r>
          </a:p>
          <a:p>
            <a:r>
              <a:t>1위는 닭가슴살 샐러드. 여기서 중요한 건 그 아래 두 줄입니다.</a:t>
            </a:r>
          </a:p>
          <a:p>
            <a:r>
              <a:t>"오늘 단백질이 101그램 부족해요", "운동으로 311칼로리가 추가됐어요".</a:t>
            </a:r>
          </a:p>
          <a:p>
            <a:r>
              <a:t>사용자는 이유를 보고 나서야 왜 이 메뉴인지 납득합니다. 추천 자체보다 근거를 보여주는 게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</a:t>
            </a:r>
          </a:p>
          <a:p>
            <a:r>
              <a:t>퇴근길에 장을 봤습니다. 냉장고 사진을 찍어 올리면 재료를 인식해 후보로 보여줍니다.</a:t>
            </a:r>
          </a:p>
          <a:p>
            <a:r>
              <a:t>여기서 저희 원칙은 자동 저장하지 않는다는 것입니다. 인식 정확도가 100%가 아니니 사용자 확인 단계를 반드시 거칩니다.</a:t>
            </a:r>
          </a:p>
          <a:p>
            <a:r>
              <a:t>사진 인식은 어디까지나 보조 수단이고, 수동 입력만으로도 전체 기능이 동작합니다.</a:t>
            </a:r>
          </a:p>
          <a:p>
            <a:r>
              <a:t>저녁에 "재료로 레시피 찾기"를 누르면 매칭률 순으로 정렬됩니다.</a:t>
            </a:r>
          </a:p>
          <a:p>
            <a:r>
              <a:t>1위는 두부 계란찜, 매칭률 100%. 유통기한이 임박한 두부를 쓰기 때문에 가산점을 받았습니다.</a:t>
            </a:r>
          </a:p>
          <a:p>
            <a:r>
              <a:t>그 아래는 매칭률 75%, 부족한 재료가 파프리카라고 명시해줍니다.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30초)</a:t>
            </a:r>
          </a:p>
          <a:p>
            <a:r>
              <a:t>마지막 시나리오입니다. 하루가 끝나갈 무렵, 민수는 총 1,450칼로리를 먹었습니다.</a:t>
            </a:r>
          </a:p>
          <a:p>
            <a:r>
              <a:t>오늘 목표 1,892에서 442칼로리가 모자랍니다.</a:t>
            </a:r>
          </a:p>
          <a:p>
            <a:r>
              <a:t>여기서 대시보드는 초과가 아니라 부족을 알려줍니다.</a:t>
            </a:r>
          </a:p>
          <a:p>
            <a:r>
              <a:t>"조깅으로 311칼로리를 쓰셨는데 그만큼 보충하지 않으셨네요. 1,450은 기초대사량보다도 적어서 오히려 감량에 방해가 돼요."</a:t>
            </a:r>
          </a:p>
          <a:p>
            <a:r>
              <a:t>과다 섭취만 관리 대상이 아니라는 게 저희 관점입니다.</a:t>
            </a:r>
          </a:p>
          <a:p>
            <a:r>
              <a:t>그리고 목표를 넘겨도 경고하지 않습니다. 경고하면 사용자가 기록 자체를 피하게 되니까요.</a:t>
            </a:r>
          </a:p>
          <a:p>
            <a:r>
              <a:t>숫자는 항상 "기본 목표 더하기 운동" 형태로 분해해서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20초)</a:t>
            </a:r>
          </a:p>
          <a:p>
            <a:r>
              <a:t>정리하면 네 가지입니다.</a:t>
            </a:r>
          </a:p>
          <a:p>
            <a:r>
              <a:t>첫째, 기준선이 매일 움직입니다. 운동한 만큼 먹어도 되는지에 실제로 답하는 구조입니다.</a:t>
            </a:r>
          </a:p>
          <a:p>
            <a:r>
              <a:t>둘째, 추천에 항상 근거가 붙습니다. 계산 과정을 숨기지 않습니다.</a:t>
            </a:r>
          </a:p>
          <a:p>
            <a:r>
              <a:t>셋째, 값을 임의로 보정하지 않습니다. 판단은 사용자에게 남겨둡니다.</a:t>
            </a:r>
          </a:p>
          <a:p>
            <a:r>
              <a:t>넷째, 초과뿐 아니라 부족도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15초)</a:t>
            </a:r>
          </a:p>
          <a:p>
            <a:r>
              <a:t>마지막으로 개발 계획입니다.</a:t>
            </a:r>
          </a:p>
          <a:p>
            <a:r>
              <a:t>사진 재료 인식이 기술적으로 가장 무거운 부분인데, 초기 버전을 수동 입력만으로 출시해도 일곱 기능이 전부 동작합니다.</a:t>
            </a:r>
          </a:p>
          <a:p>
            <a:r>
              <a:t>웨어러블 연동도 선택 사항입니다. 그래서 이 결정들이 늦어져도 나머지 개발은 막히지 않습니다.</a:t>
            </a:r>
          </a:p>
          <a:p>
            <a:r>
              <a:t>지금 확정이 필요한 건 음식 영양 DB와 MET, 레시피 데이터 출처 정도입니다.</a:t>
            </a:r>
          </a:p>
          <a:p>
            <a:r>
              <a:t>기준선을 세우고, 운동만큼 늘리고, 그 차이로 추천한다. 이 한 줄이 저희 앱입니다.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372868" cy="292608"/>
          </a:xfrm>
          <a:prstGeom prst="roundRect">
            <a:avLst>
              <a:gd name="adj" fmla="val 50000"/>
            </a:avLst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8FE3C0"/>
                </a:solidFill>
                <a:latin typeface="맑은 고딕"/>
                <a:ea typeface="맑은 고딕"/>
              </a:rPr>
              <a:t>식단 관리 웹 앱 · 기능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</a:rPr>
              <a:t>다음에 무엇을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5AD19C"/>
                </a:solidFill>
                <a:latin typeface="맑은 고딕"/>
                <a:ea typeface="맑은 고딕"/>
              </a:rPr>
              <a:t>먹을지</a:t>
            </a:r>
            <a:r>
              <a:rPr sz="5000" b="1">
                <a:solidFill>
                  <a:srgbClr val="FFFFFF"/>
                </a:solidFill>
                <a:latin typeface="맑은 고딕"/>
                <a:ea typeface="맑은 고딕"/>
              </a:rPr>
              <a:t> 알려주는 식단앱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4164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C4BD"/>
                </a:solidFill>
                <a:latin typeface="맑은 고딕"/>
                <a:ea typeface="맑은 고딕"/>
              </a:rPr>
              <a:t>신체 정보로 하루 목표 칼로리를 세우고, 식사·운동 기록과 냉장고 재료를 바탕으로 다음 끼니를 제안합니다.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138928"/>
            <a:ext cx="1847088" cy="402336"/>
          </a:xfrm>
          <a:prstGeom prst="roundRect">
            <a:avLst>
              <a:gd name="adj" fmla="val 40000"/>
            </a:avLst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38928"/>
            <a:ext cx="18470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ED8BE"/>
                </a:solidFill>
                <a:latin typeface="맑은 고딕"/>
                <a:ea typeface="맑은 고딕"/>
              </a:rPr>
              <a:t>하루 몇 kcal?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5138928"/>
            <a:ext cx="2578608" cy="402336"/>
          </a:xfrm>
          <a:prstGeom prst="roundRect">
            <a:avLst>
              <a:gd name="adj" fmla="val 40000"/>
            </a:avLst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5138928"/>
            <a:ext cx="2578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ED8BE"/>
                </a:solidFill>
                <a:latin typeface="맑은 고딕"/>
                <a:ea typeface="맑은 고딕"/>
              </a:rPr>
              <a:t>운동했으니 더 먹어도 될까?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95544" y="5138928"/>
            <a:ext cx="1408176" cy="402336"/>
          </a:xfrm>
          <a:prstGeom prst="roundRect">
            <a:avLst>
              <a:gd name="adj" fmla="val 40000"/>
            </a:avLst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5138928"/>
            <a:ext cx="14081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ED8BE"/>
                </a:solidFill>
                <a:latin typeface="맑은 고딕"/>
                <a:ea typeface="맑은 고딕"/>
              </a:rPr>
              <a:t>다음 끼니는?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0024" y="5138928"/>
            <a:ext cx="1993392" cy="402336"/>
          </a:xfrm>
          <a:prstGeom prst="roundRect">
            <a:avLst>
              <a:gd name="adj" fmla="val 40000"/>
            </a:avLst>
          </a:prstGeom>
          <a:solidFill>
            <a:srgbClr val="11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5138928"/>
            <a:ext cx="19933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ED8BE"/>
                </a:solidFill>
                <a:latin typeface="맑은 고딕"/>
                <a:ea typeface="맑은 고딕"/>
              </a:rPr>
              <a:t>냉장고로 뭘 만들까?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521208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기록은 쉬워졌지만, 판단은 여전히 사용자 몫입니다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식단 앱은 많습니다. 대부분 “먹은 것을 기록”하는 데서 끝납니다.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10637215" cy="841248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32304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B22"/>
                </a:solidFill>
                <a:latin typeface="맑은 고딕"/>
                <a:ea typeface="맑은 고딕"/>
              </a:rPr>
              <a:t>“오늘 1,850 kcal 먹었습니다.”</a:t>
            </a: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   … 그래서 많이 먹은 건가요, 적게 먹은 건가요?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46704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사용자가 실제로 궁금한 것은 기록이 아니라 이 네 가지입니다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85615"/>
            <a:ext cx="2412415" cy="17007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4023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4297679"/>
            <a:ext cx="1936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하루에 몇 kcal를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1B22"/>
                </a:solidFill>
                <a:latin typeface="맑은 고딕"/>
                <a:ea typeface="맑은 고딕"/>
              </a:rPr>
              <a:t>먹어야 하는가?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8839" y="3785615"/>
            <a:ext cx="2412415" cy="17007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4023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4297679"/>
            <a:ext cx="1936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오늘 운동했는데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1B22"/>
                </a:solidFill>
                <a:latin typeface="맑은 고딕"/>
                <a:ea typeface="맑은 고딕"/>
              </a:rPr>
              <a:t>그만큼 더 먹어도 되는가?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0439" y="3785615"/>
            <a:ext cx="2412415" cy="17007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8183" y="4023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183" y="4297679"/>
            <a:ext cx="1936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지금까지 먹은 걸 감안하면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1B22"/>
                </a:solidFill>
                <a:latin typeface="맑은 고딕"/>
                <a:ea typeface="맑은 고딕"/>
              </a:rPr>
              <a:t>다음 끼니는 무엇인가?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2039" y="3785615"/>
            <a:ext cx="2412415" cy="170078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4023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783" y="4297679"/>
            <a:ext cx="1936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지금 냉장고에 있는 걸로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1B22"/>
                </a:solidFill>
                <a:latin typeface="맑은 고딕"/>
                <a:ea typeface="맑은 고딕"/>
              </a:rPr>
              <a:t>무엇을 만들 수 있는가?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해결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기준선을 먼저 세우고, 모든 추천을 그 차이로 계산합니다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188720"/>
          </a:xfrm>
          <a:prstGeom prst="roundRect">
            <a:avLst>
              <a:gd name="adj" fmla="val 5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29967"/>
            <a:ext cx="9814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E8A5F"/>
                </a:solidFill>
                <a:latin typeface="맑은 고딕"/>
                <a:ea typeface="맑은 고딕"/>
              </a:rPr>
              <a:t>오늘 목표 칼로리</a:t>
            </a:r>
            <a:r>
              <a:rPr sz="1800" b="1">
                <a:solidFill>
                  <a:srgbClr val="141B22"/>
                </a:solidFill>
                <a:latin typeface="맑은 고딕"/>
                <a:ea typeface="맑은 고딕"/>
              </a:rPr>
              <a:t>  =  기본 목표 칼로리  +  오늘 운동 소모 칼로리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8A5F"/>
                </a:solidFill>
                <a:latin typeface="맑은 고딕"/>
                <a:ea typeface="맑은 고딕"/>
              </a:rPr>
              <a:t>잔여 칼로리</a:t>
            </a:r>
            <a:r>
              <a:rPr sz="1800" b="1">
                <a:solidFill>
                  <a:srgbClr val="141B22"/>
                </a:solidFill>
                <a:latin typeface="맑은 고딕"/>
                <a:ea typeface="맑은 고딕"/>
              </a:rPr>
              <a:t>  =  오늘 목표 칼로리  −  지금까지 섭취한 칼로리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36976"/>
            <a:ext cx="5154015" cy="22494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3474720"/>
            <a:ext cx="521208" cy="29260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3A5F"/>
                </a:solidFill>
                <a:latin typeface="맑은 고딕"/>
                <a:ea typeface="맑은 고딕"/>
              </a:rPr>
              <a:t>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6053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141B22"/>
                </a:solidFill>
                <a:latin typeface="맑은 고딕"/>
                <a:ea typeface="맑은 고딕"/>
              </a:rPr>
              <a:t>기본 목표는 하루 동안 고정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사용자가 정한 목표 체중과 기간에서 역산합니다. 앱이 값을 임의로 제한하지 않습니다 — 기초대사량보다 낮게 나오면 사실만 알려주고, 속도를 정하는 것은 사용자의 몫입니다.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0439" y="3236976"/>
            <a:ext cx="5154015" cy="22494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4759" y="347472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46210"/>
                </a:solidFill>
                <a:latin typeface="맑은 고딕"/>
                <a:ea typeface="맑은 고딕"/>
              </a:rPr>
              <a:t>매일 움직임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759" y="3895344"/>
            <a:ext cx="46053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141B22"/>
                </a:solidFill>
                <a:latin typeface="맑은 고딕"/>
                <a:ea typeface="맑은 고딕"/>
              </a:rPr>
              <a:t>오늘 목표는 운동할 때마다 늘어남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활동계수는 일상 활동만, 운동은 그날그날 별도로 더합니다. 같은 운동을 두 번 세지 않으려는 설계이고, 덕분에 “운동했으니 더 먹어도 되나?”에 답할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계산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입력 하나가 추천까지 이어집니다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모든 기능이 같은 계산 사슬 위에서 동작합니다. 추천은 별도 기능이 아니라 이 사슬의 끝입니다.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51760"/>
            <a:ext cx="1517904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3A5F"/>
                </a:solidFill>
                <a:latin typeface="맑은 고딕"/>
                <a:ea typeface="맑은 고딕"/>
              </a:rPr>
              <a:t>BMR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490"/>
                </a:solidFill>
                <a:latin typeface="맑은 고딕"/>
                <a:ea typeface="맑은 고딕"/>
              </a:rPr>
              <a:t>키·몸무게·나이·성별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916936"/>
            <a:ext cx="292608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63240" y="2468880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651760"/>
            <a:ext cx="1517904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3A5F"/>
                </a:solidFill>
                <a:latin typeface="맑은 고딕"/>
                <a:ea typeface="맑은 고딕"/>
              </a:rPr>
              <a:t>TDEE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490"/>
                </a:solidFill>
                <a:latin typeface="맑은 고딕"/>
                <a:ea typeface="맑은 고딕"/>
              </a:rPr>
              <a:t>+ 일상 활동계수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2916936"/>
            <a:ext cx="292608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2468880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2651760"/>
            <a:ext cx="1517904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8A5F"/>
                </a:solidFill>
                <a:latin typeface="맑은 고딕"/>
                <a:ea typeface="맑은 고딕"/>
              </a:rPr>
              <a:t>기본 목표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490"/>
                </a:solidFill>
                <a:latin typeface="맑은 고딕"/>
                <a:ea typeface="맑은 고딕"/>
              </a:rPr>
              <a:t>+ 목표 체중·기간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79" y="2916936"/>
            <a:ext cx="292608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2468880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651760"/>
            <a:ext cx="1517904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46210"/>
                </a:solidFill>
                <a:latin typeface="맑은 고딕"/>
                <a:ea typeface="맑은 고딕"/>
              </a:rPr>
              <a:t>오늘 목표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490"/>
                </a:solidFill>
                <a:latin typeface="맑은 고딕"/>
                <a:ea typeface="맑은 고딕"/>
              </a:rPr>
              <a:t>+ 오늘 운동 소모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20" y="2916936"/>
            <a:ext cx="292608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2468880"/>
            <a:ext cx="1737360" cy="1060704"/>
          </a:xfrm>
          <a:prstGeom prst="roundRect">
            <a:avLst>
              <a:gd name="adj" fmla="val 1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651760"/>
            <a:ext cx="1517904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E8A5F"/>
                </a:solidFill>
                <a:latin typeface="맑은 고딕"/>
                <a:ea typeface="맑은 고딕"/>
              </a:rPr>
              <a:t>잔여 칼로리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490"/>
                </a:solidFill>
                <a:latin typeface="맑은 고딕"/>
                <a:ea typeface="맑은 고딕"/>
              </a:rPr>
              <a:t>− 누적 섭취량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059935"/>
            <a:ext cx="1737360" cy="896112"/>
          </a:xfrm>
          <a:prstGeom prst="roundRect">
            <a:avLst>
              <a:gd name="adj" fmla="val 10000"/>
            </a:avLst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059935"/>
            <a:ext cx="17373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다음 식사 · 레시피
추천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296144" y="3602736"/>
            <a:ext cx="164592" cy="347472"/>
          </a:xfrm>
          <a:prstGeom prst="down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212079"/>
            <a:ext cx="10637215" cy="786384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413248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설계 원칙  </a:t>
            </a:r>
            <a:r>
              <a:rPr sz="1350" b="0">
                <a:solidFill>
                  <a:srgbClr val="3C4550"/>
                </a:solidFill>
                <a:latin typeface="맑은 고딕"/>
                <a:ea typeface="맑은 고딕"/>
              </a:rPr>
              <a:t>사용자가 근거를 이해할 수 있도록 BMR·TDEE·기본 목표를 각 단계별로 모두 노출합니다. 대시보드도 “기본 목표 1,581 + 운동 311 = 오늘 목표 1,892”처럼 분해해 보여줍니다.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기능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7개 기능, 4개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F1이 기준선을 세우고 · F2~F4가 기록하고 · F5~F6이 추천하고 · F7이 요약합니다.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3230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3A5F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2359152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9384" y="246888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맑은 고딕"/>
                <a:ea typeface="맑은 고딕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46888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사용자 프로필 및 목표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487168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BMR·TDEE·기본 목표 칼로리·탄단지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3580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46210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962656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3072384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6210"/>
                </a:solidFill>
                <a:latin typeface="맑은 고딕"/>
                <a:ea typeface="맑은 고딕"/>
              </a:rPr>
              <a:t>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307238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하루 식단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3090672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끼니별 기록, 누적 섭취량 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474720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9384" y="358444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6210"/>
                </a:solidFill>
                <a:latin typeface="맑은 고딕"/>
                <a:ea typeface="맑은 고딕"/>
              </a:rP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58444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운동 기록 및 소모 칼로리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602736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MET 계산 · 직접 입력 · 외부 연동(선택)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3986784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9384" y="4096512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6210"/>
                </a:solidFill>
                <a:latin typeface="맑은 고딕"/>
                <a:ea typeface="맑은 고딕"/>
              </a:rPr>
              <a:t>F4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1176" y="409651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냉장고 재료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4114800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사진 인식 + 사용자 확인 단계 + 수동 보완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6344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4590288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9384" y="4700016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F5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47000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다음 식사 추천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4718303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잔여 칼로리·탄단지를 남은 끼니로 배분 → 후보 정렬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102352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9384" y="521208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F6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521208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재료 기반 레시피 추천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6168" y="5230368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매칭률 정렬 + 유통기한 임박 재료 가산점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3A5F"/>
                </a:solidFill>
                <a:latin typeface="맑은 고딕"/>
                <a:ea typeface="맑은 고딕"/>
              </a:rPr>
              <a:t>요약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91640" y="5705856"/>
            <a:ext cx="9722815" cy="4389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9384" y="5815584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A5F"/>
                </a:solidFill>
                <a:latin typeface="맑은 고딕"/>
                <a:ea typeface="맑은 고딕"/>
              </a:rPr>
              <a:t>F7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1176" y="581558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일일 대시보드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5833872"/>
            <a:ext cx="52422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목표 구성 분해, 진행률, 초과·부족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1632204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시나리오 ① ·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먼저 자기 기준선을 알게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민수 · 남성 30세 · 175cm · 75kg · 사무직 · 다이어트 · 목표 70kg / 12주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3326282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32304"/>
            <a:ext cx="27776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기초대사량 BMR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2777642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맑은 고딕"/>
                <a:ea typeface="맑은 고딕"/>
              </a:rPr>
              <a:t>1,699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2706" y="2212848"/>
            <a:ext cx="3326282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7026" y="2432304"/>
            <a:ext cx="27776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하루 소비량 TDEE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7026" y="2761488"/>
            <a:ext cx="2777642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맑은 고딕"/>
                <a:ea typeface="맑은 고딕"/>
              </a:rPr>
              <a:t>2,039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8172" y="2212848"/>
            <a:ext cx="3326282" cy="1298448"/>
          </a:xfrm>
          <a:prstGeom prst="roundRect">
            <a:avLst>
              <a:gd name="adj" fmla="val 5000"/>
            </a:avLst>
          </a:prstGeom>
          <a:solidFill>
            <a:srgbClr val="ECF6F1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2492" y="2432304"/>
            <a:ext cx="27776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기본 목표 칼로리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492" y="2761488"/>
            <a:ext cx="2777642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E8A5F"/>
                </a:solidFill>
                <a:latin typeface="맑은 고딕"/>
                <a:ea typeface="맑은 고딕"/>
              </a:rPr>
              <a:t>1,581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49039"/>
            <a:ext cx="10637215" cy="859536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5020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41B22"/>
                </a:solidFill>
                <a:latin typeface="맑은 고딕"/>
                <a:ea typeface="맑은 고딕"/>
              </a:rPr>
              <a:t>“5kg을 12주에 빼려면 하루 458 kcal를 덜 드셔야 해요. 주당 0.42kg 속도예요.”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A8490"/>
                </a:solidFill>
                <a:latin typeface="맑은 고딕"/>
                <a:ea typeface="맑은 고딕"/>
              </a:rPr>
              <a:t>탄수화물 158g · 단백질 119g · 지방 53g   |   목표 달성 예정일 함께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54879"/>
            <a:ext cx="10637215" cy="1207008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C46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88136" y="4937760"/>
            <a:ext cx="1632204" cy="292608"/>
          </a:xfrm>
          <a:prstGeom prst="roundRect">
            <a:avLst>
              <a:gd name="adj" fmla="val 5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46210"/>
                </a:solidFill>
                <a:latin typeface="맑은 고딕"/>
                <a:ea typeface="맑은 고딕"/>
              </a:rPr>
              <a:t>값은 바꾸지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5358383"/>
            <a:ext cx="100154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B22"/>
                </a:solidFill>
                <a:latin typeface="맑은 고딕"/>
                <a:ea typeface="맑은 고딕"/>
              </a:rPr>
              <a:t>“이 목표는 기초대사량(1,699 kcal)보다 낮아요. 기간을 늘리거나 운동을 병행하는 걸 고려해보세요.”</a:t>
            </a:r>
            <a:r>
              <a:rPr sz="1300" b="0">
                <a:solidFill>
                  <a:srgbClr val="7A8490"/>
                </a:solidFill>
                <a:latin typeface="맑은 고딕"/>
                <a:ea typeface="맑은 고딕"/>
              </a:rPr>
              <a:t>  — 앱은 목표를 임의로 올리지 않고 사실만 알립니다.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1632204" cy="292608"/>
          </a:xfrm>
          <a:prstGeom prst="roundRect">
            <a:avLst>
              <a:gd name="adj" fmla="val 5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46210"/>
                </a:solidFill>
                <a:latin typeface="맑은 고딕"/>
                <a:ea typeface="맑은 고딕"/>
              </a:rPr>
              <a:t>시나리오 ② · 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운동을 기록하면 오늘 목표가 늘어납니다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출근 전 조깅 30분. 이 앱에서 가장 차별적인 동작입니다.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10637215" cy="731520"/>
          </a:xfrm>
          <a:prstGeom prst="roundRect">
            <a:avLst>
              <a:gd name="adj" fmla="val 5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9905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6210"/>
                </a:solidFill>
                <a:latin typeface="맑은 고딕"/>
                <a:ea typeface="맑은 고딕"/>
              </a:rPr>
              <a:t>소모 kcal = MET × 체중(kg) × 시간(h)</a:t>
            </a:r>
            <a:r>
              <a:rPr sz="1600" b="0">
                <a:solidFill>
                  <a:srgbClr val="3C4550"/>
                </a:solidFill>
                <a:latin typeface="맑은 고딕"/>
                <a:ea typeface="맑은 고딕"/>
              </a:rPr>
              <a:t>     조깅 MET 8.3 × 75kg × 0.5h = </a:t>
            </a:r>
            <a:r>
              <a:rPr sz="1700" b="1">
                <a:solidFill>
                  <a:srgbClr val="141B22"/>
                </a:solidFill>
                <a:latin typeface="맑은 고딕"/>
                <a:ea typeface="맑은 고딕"/>
              </a:rPr>
              <a:t>311 kcal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00400"/>
            <a:ext cx="2029968" cy="1225296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기본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2029968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8A5F"/>
                </a:solidFill>
                <a:latin typeface="맑은 고딕"/>
                <a:ea typeface="맑은 고딕"/>
              </a:rPr>
              <a:t>1,581</a:t>
            </a:r>
            <a:r>
              <a:rPr sz="12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3511296"/>
            <a:ext cx="402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8B0B8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3200400"/>
            <a:ext cx="2029968" cy="1225296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3401568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운동 소모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730752"/>
            <a:ext cx="2029968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C46210"/>
                </a:solidFill>
                <a:latin typeface="맑은 고딕"/>
                <a:ea typeface="맑은 고딕"/>
              </a:rPr>
              <a:t>311</a:t>
            </a:r>
            <a:r>
              <a:rPr sz="12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3511296"/>
            <a:ext cx="402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8B0B8"/>
                </a:solidFill>
                <a:latin typeface="맑은 고딕"/>
                <a:ea typeface="맑은 고딕"/>
              </a:rP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4" y="3200400"/>
            <a:ext cx="2029968" cy="1225296"/>
          </a:xfrm>
          <a:prstGeom prst="roundRect">
            <a:avLst>
              <a:gd name="adj" fmla="val 5000"/>
            </a:avLst>
          </a:prstGeom>
          <a:solidFill>
            <a:srgbClr val="ECF6F1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4" y="3401568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오늘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3730752"/>
            <a:ext cx="2029968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B22"/>
                </a:solidFill>
                <a:latin typeface="맑은 고딕"/>
                <a:ea typeface="맑은 고딕"/>
              </a:rPr>
              <a:t>1,892</a:t>
            </a:r>
            <a:r>
              <a:rPr sz="12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08576"/>
            <a:ext cx="5154015" cy="13533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09744"/>
            <a:ext cx="46053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A8490"/>
                </a:solidFill>
                <a:latin typeface="맑은 고딕"/>
                <a:ea typeface="맑은 고딕"/>
              </a:rPr>
              <a:t>덤으로 따라오는 변화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C4550"/>
                </a:solidFill>
                <a:latin typeface="맑은 고딕"/>
                <a:ea typeface="맑은 고딕"/>
              </a:rPr>
              <a:t>잔여 칼로리 1,161 → 1,472 kcal · 근력운동한 날은 단백질 하한이 체중×1.2g → 1.6g로 상향 · “BMR보다 낮아요” 안내는 사라짐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0439" y="4608576"/>
            <a:ext cx="5154015" cy="1353312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759" y="4809744"/>
            <a:ext cx="46053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A8490"/>
                </a:solidFill>
                <a:latin typeface="맑은 고딕"/>
                <a:ea typeface="맑은 고딕"/>
              </a:rPr>
              <a:t>추정치라고 먼저 말합니다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C4550"/>
                </a:solidFill>
                <a:latin typeface="맑은 고딕"/>
                <a:ea typeface="맑은 고딕"/>
              </a:rPr>
              <a:t>“소모 칼로리는 추정치예요. 다이어트 중이라면 늘어난 만큼 전부 채우기보다 절반 정도만 채우는 걸 권해요.”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1632204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시나리오 ③ · F5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이유까지 말해주는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이 앱의 핵심 기능입니다.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2453563" cy="896112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377440"/>
            <a:ext cx="20146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잔여 1,472 kcal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8490"/>
                </a:solidFill>
                <a:latin typeface="맑은 고딕"/>
                <a:ea typeface="맑은 고딕"/>
              </a:rPr>
              <a:t>오늘 목표 − 아침 420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85667" y="2578608"/>
            <a:ext cx="164592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5123" y="2212848"/>
            <a:ext cx="2453563" cy="896112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4579" y="2377440"/>
            <a:ext cx="20146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÷ 남은 3끼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8490"/>
                </a:solidFill>
                <a:latin typeface="맑은 고딕"/>
                <a:ea typeface="맑은 고딕"/>
              </a:rPr>
              <a:t>점심 몫 약 491 kcal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3551" y="2578608"/>
            <a:ext cx="164592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2212848"/>
            <a:ext cx="2453563" cy="896112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2377440"/>
            <a:ext cx="20146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±15% 후보 추림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8490"/>
                </a:solidFill>
                <a:latin typeface="맑은 고딕"/>
                <a:ea typeface="맑은 고딕"/>
              </a:rPr>
              <a:t>배분 범위 안의 음식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41435" y="2578608"/>
            <a:ext cx="164592" cy="164592"/>
          </a:xfrm>
          <a:prstGeom prst="rightArrow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0891" y="2212848"/>
            <a:ext cx="2453563" cy="896112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347" y="2377440"/>
            <a:ext cx="20146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1B22"/>
                </a:solidFill>
                <a:latin typeface="맑은 고딕"/>
                <a:ea typeface="맑은 고딕"/>
              </a:rPr>
              <a:t>부족 영양소 우선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8490"/>
                </a:solidFill>
                <a:latin typeface="맑은 고딕"/>
                <a:ea typeface="맑은 고딕"/>
              </a:rPr>
              <a:t>근력운동일엔 단백질 가중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01568"/>
            <a:ext cx="10637215" cy="2377440"/>
          </a:xfrm>
          <a:prstGeom prst="roundRect">
            <a:avLst>
              <a:gd name="adj" fmla="val 5000"/>
            </a:avLst>
          </a:prstGeom>
          <a:noFill/>
          <a:ln w="17780">
            <a:solidFill>
              <a:srgbClr val="0E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06424" y="3639312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추천 1위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4078224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41B22"/>
                </a:solidFill>
                <a:latin typeface="맑은 고딕"/>
                <a:ea typeface="맑은 고딕"/>
              </a:rPr>
              <a:t>닭가슴살 샐러드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A8490"/>
                </a:solidFill>
                <a:latin typeface="맑은 고딕"/>
                <a:ea typeface="맑은 고딕"/>
              </a:rPr>
              <a:t>520 kcal · 단백질 45g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" y="5047488"/>
            <a:ext cx="3095244" cy="420624"/>
          </a:xfrm>
          <a:prstGeom prst="roundRect">
            <a:avLst>
              <a:gd name="adj" fmla="val 4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5047488"/>
            <a:ext cx="30952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A5F"/>
                </a:solidFill>
                <a:latin typeface="맑은 고딕"/>
                <a:ea typeface="맑은 고딕"/>
              </a:rPr>
              <a:t>“오늘 단백질이 101g 부족해요”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4548" y="5047488"/>
            <a:ext cx="3520440" cy="420624"/>
          </a:xfrm>
          <a:prstGeom prst="roundRect">
            <a:avLst>
              <a:gd name="adj" fmla="val 40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4548" y="5047488"/>
            <a:ext cx="3520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6210"/>
                </a:solidFill>
                <a:latin typeface="맑은 고딕"/>
                <a:ea typeface="맑은 고딕"/>
              </a:rPr>
              <a:t>“운동으로 311 kcal가 추가됐어요”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694176"/>
            <a:ext cx="2697480" cy="1773936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391363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7A8490"/>
                </a:solidFill>
                <a:latin typeface="맑은 고딕"/>
                <a:ea typeface="맑은 고딕"/>
              </a:rPr>
              <a:t>예외도 정해두었습니다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C4550"/>
                </a:solidFill>
                <a:latin typeface="맑은 고딕"/>
                <a:ea typeface="맑은 고딕"/>
              </a:rPr>
              <a:t>잔여가 음수면 저칼로리만 · 200kcal 미만이면 정식 끼니 대신 간식 위주로 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시나리오 ④ · F4 → F6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냉장고에 있는 걸로 저녁을 해결합니다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재료를 사두고 버리는 일을 줄이는 것이 목적입니다.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5135727" cy="373075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432304"/>
            <a:ext cx="1879092" cy="29260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3A5F"/>
                </a:solidFill>
                <a:latin typeface="맑은 고딕"/>
                <a:ea typeface="맑은 고딕"/>
              </a:rPr>
              <a:t>F4  냉장고 재료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07791"/>
            <a:ext cx="458708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141B22"/>
                </a:solidFill>
                <a:latin typeface="맑은 고딕"/>
                <a:ea typeface="맑은 고딕"/>
              </a:rPr>
              <a:t>사진 한 장 → 사용자 확인 → 확정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냉장고 사진을 올리면 양파·계란·두부·대파를 인식해 후보로 보여줍니다. 못 잡은 닭가슴살은 수동으로 추가하고, 잘못 인식된 항목은 지운 뒤 저장합니다.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F3A5F"/>
                </a:solidFill>
                <a:latin typeface="맑은 고딕"/>
                <a:ea typeface="맑은 고딕"/>
              </a:rPr>
              <a:t>자동 저장하지 않습니다.</a:t>
            </a: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 인식 정확도가 100%가 아니므로 확인 단계를 반드시 거칩니다. 사진 인식은 보조 수단이고, 수동 입력만으로도 F4와 F6이 온전히 동작합니다.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유통기한 3일 이내 재료는 임박 표시 (예: 두부)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12848"/>
            <a:ext cx="5135727" cy="373075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2432304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F6  레시피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907791"/>
            <a:ext cx="4587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1B22"/>
                </a:solidFill>
                <a:latin typeface="맑은 고딕"/>
                <a:ea typeface="맑은 고딕"/>
              </a:rPr>
              <a:t>매칭률 = 보유한 필요 재료 ÷ 전체 필요 재료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유통기한 임박 재료를 쓰는 레시피에 가산점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3047" y="3694176"/>
            <a:ext cx="4587087" cy="786384"/>
          </a:xfrm>
          <a:prstGeom prst="roundRect">
            <a:avLst>
              <a:gd name="adj" fmla="val 5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2503" y="3831336"/>
            <a:ext cx="41298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1B22"/>
                </a:solidFill>
                <a:latin typeface="맑은 고딕"/>
                <a:ea typeface="맑은 고딕"/>
              </a:rPr>
              <a:t>두부 계란찜</a:t>
            </a:r>
            <a:r>
              <a:rPr sz="1200" b="1">
                <a:solidFill>
                  <a:srgbClr val="0E8A5F"/>
                </a:solidFill>
                <a:latin typeface="맑은 고딕"/>
                <a:ea typeface="맑은 고딕"/>
              </a:rPr>
              <a:t>   매칭률 100%</a:t>
            </a: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>   210 kcal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C4550"/>
                </a:solidFill>
                <a:latin typeface="맑은 고딕"/>
                <a:ea typeface="맑은 고딕"/>
              </a:rPr>
              <a:t>임박 두부 사용 → 가산점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47" y="4572000"/>
            <a:ext cx="4587087" cy="786384"/>
          </a:xfrm>
          <a:prstGeom prst="roundRect">
            <a:avLst>
              <a:gd name="adj" fmla="val 5000"/>
            </a:avLst>
          </a:prstGeom>
          <a:solidFill>
            <a:srgbClr val="FD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2503" y="4709160"/>
            <a:ext cx="41298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1B22"/>
                </a:solidFill>
                <a:latin typeface="맑은 고딕"/>
                <a:ea typeface="맑은 고딕"/>
              </a:rPr>
              <a:t>닭가슴살 볶음</a:t>
            </a:r>
            <a:r>
              <a:rPr sz="1200" b="1">
                <a:solidFill>
                  <a:srgbClr val="C46210"/>
                </a:solidFill>
                <a:latin typeface="맑은 고딕"/>
                <a:ea typeface="맑은 고딕"/>
              </a:rPr>
              <a:t>   매칭률 75%</a:t>
            </a:r>
            <a:r>
              <a:rPr sz="1200" b="0">
                <a:solidFill>
                  <a:srgbClr val="7A84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C4550"/>
                </a:solidFill>
                <a:latin typeface="맑은 고딕"/>
                <a:ea typeface="맑은 고딕"/>
              </a:rPr>
              <a:t>부족한 재료: 파프리카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546811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8490"/>
                </a:solidFill>
                <a:latin typeface="맑은 고딕"/>
                <a:ea typeface="맑은 고딕"/>
              </a:rPr>
              <a:t>100% 레시피가 없으면 부족 재료 1~2개까지 포함해 보여주고, 기본 양념은 항상 보유로 간주합니다.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1632204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시나리오 ⑤ · F7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과다 섭취만 관리 대상이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490"/>
                </a:solidFill>
                <a:latin typeface="맑은 고딕"/>
                <a:ea typeface="맑은 고딕"/>
              </a:rPr>
              <a:t>하루가 끝나갈 무렵의 대시보드. 대부분의 앱이 놓치는 지점입니다.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6815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3338474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32304"/>
            <a:ext cx="27898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오늘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2789834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41B22"/>
                </a:solidFill>
                <a:latin typeface="맑은 고딕"/>
                <a:ea typeface="맑은 고딕"/>
              </a:rPr>
              <a:t>1,892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6610" y="2212848"/>
            <a:ext cx="3338474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930" y="2432304"/>
            <a:ext cx="27898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실제 섭취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930" y="2761488"/>
            <a:ext cx="2789834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F3A5F"/>
                </a:solidFill>
                <a:latin typeface="맑은 고딕"/>
                <a:ea typeface="맑은 고딕"/>
              </a:rPr>
              <a:t>1,450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5980" y="2212848"/>
            <a:ext cx="3338474" cy="1298448"/>
          </a:xfrm>
          <a:prstGeom prst="roundRect">
            <a:avLst>
              <a:gd name="adj" fmla="val 5000"/>
            </a:avLst>
          </a:prstGeom>
          <a:solidFill>
            <a:srgbClr val="FDF2E5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0300" y="2432304"/>
            <a:ext cx="27898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A8490"/>
                </a:solidFill>
                <a:latin typeface="맑은 고딕"/>
                <a:ea typeface="맑은 고딕"/>
              </a:rPr>
              <a:t>부족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300" y="2761488"/>
            <a:ext cx="2789834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C46210"/>
                </a:solidFill>
                <a:latin typeface="맑은 고딕"/>
                <a:ea typeface="맑은 고딕"/>
              </a:rPr>
              <a:t>442</a:t>
            </a:r>
            <a:r>
              <a:rPr sz="1300" b="1">
                <a:solidFill>
                  <a:srgbClr val="7A8490"/>
                </a:solidFill>
                <a:latin typeface="맑은 고딕"/>
                <a:ea typeface="맑은 고딕"/>
              </a:rPr>
              <a:t> kcal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30752"/>
            <a:ext cx="10637215" cy="1298448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50208"/>
            <a:ext cx="9905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41B22"/>
                </a:solidFill>
                <a:latin typeface="맑은 고딕"/>
                <a:ea typeface="맑은 고딕"/>
              </a:rPr>
              <a:t>“목표보다 442 kcal 적게 드셨어요. 오늘 조깅으로 311 kcal를 쓰셨는데 그만큼 보충하지 않으셨네요.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1B22"/>
                </a:solidFill>
                <a:latin typeface="맑은 고딕"/>
                <a:ea typeface="맑은 고딕"/>
              </a:rPr>
              <a:t>섭취량 1,450 kcal는 기초대사량(1,699 kcal)보다도 적어서 오히려 감량에 방해가 돼요.”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92624"/>
            <a:ext cx="3338474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5175504"/>
            <a:ext cx="286298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8A5F"/>
                </a:solidFill>
                <a:latin typeface="맑은 고딕"/>
                <a:ea typeface="맑은 고딕"/>
              </a:rPr>
              <a:t>경고하지 않습니다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C4550"/>
                </a:solidFill>
                <a:latin typeface="맑은 고딕"/>
                <a:ea typeface="맑은 고딕"/>
              </a:rPr>
              <a:t>목표 초과 시에도 중립적 표현을 씁니다. 사용자가 기록을 회피하게 만들지 않는 것이 우선입니다.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6610" y="4992624"/>
            <a:ext cx="3338474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4354" y="5175504"/>
            <a:ext cx="286298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8A5F"/>
                </a:solidFill>
                <a:latin typeface="맑은 고딕"/>
                <a:ea typeface="맑은 고딕"/>
              </a:rPr>
              <a:t>목표 구성을 분해합니다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C4550"/>
                </a:solidFill>
                <a:latin typeface="맑은 고딕"/>
                <a:ea typeface="맑은 고딕"/>
              </a:rPr>
              <a:t>“기본 목표 1,581 + 운동 311 = 오늘 목표 1,892”. 목표가 왜 늘었는지 항상 보입니다.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5980" y="4992624"/>
            <a:ext cx="3338474" cy="12984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3724" y="5175504"/>
            <a:ext cx="286298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8A5F"/>
                </a:solidFill>
                <a:latin typeface="맑은 고딕"/>
                <a:ea typeface="맑은 고딕"/>
              </a:rPr>
              <a:t>목표 진행 상황을 봅니다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C4550"/>
                </a:solidFill>
                <a:latin typeface="맑은 고딕"/>
                <a:ea typeface="맑은 고딕"/>
              </a:rPr>
              <a:t>75.0kg → 70.0kg, 남은 기간 11주 6일. 목표 안에서 오늘이 어디쯤인지 보여줍니다.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66928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0E8A5F"/>
                </a:solidFill>
                <a:latin typeface="맑은 고딕"/>
                <a:ea typeface="맑은 고딕"/>
              </a:rPr>
              <a:t>차별점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B22"/>
                </a:solidFill>
                <a:latin typeface="맑은 고딕"/>
                <a:ea typeface="맑은 고딕"/>
              </a:rPr>
              <a:t>기록 앱이 아니라 판단을 대신하는 앱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2801"/>
          </a:xfrm>
          <a:prstGeom prst="rect">
            <a:avLst/>
          </a:prstGeom>
          <a:solidFill>
            <a:srgbClr val="E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47088"/>
            <a:ext cx="10637215" cy="8961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1214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8A5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9655" y="199339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B22"/>
                </a:solidFill>
                <a:latin typeface="맑은 고딕"/>
                <a:ea typeface="맑은 고딕"/>
              </a:rPr>
              <a:t>기준선이 매일 움직입니다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303" y="2103120"/>
            <a:ext cx="5242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고정 목표가 아니라 “기본 목표 + 오늘 운동”. 운동한 만큼 먹어도 되는지에 실제로 답합니다.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52928"/>
            <a:ext cx="10637215" cy="8961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1272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8A5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9655" y="299923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B22"/>
                </a:solidFill>
                <a:latin typeface="맑은 고딕"/>
                <a:ea typeface="맑은 고딕"/>
              </a:rPr>
              <a:t>추천에 항상 근거가 붙습니다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3" y="3108960"/>
            <a:ext cx="5242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“단백질이 101g 부족해요”, “운동으로 311 kcal가 추가됐어요”. 계산 과정을 숨기지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58768"/>
            <a:ext cx="10637215" cy="8961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41330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8A5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5" y="400507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B22"/>
                </a:solidFill>
                <a:latin typeface="맑은 고딕"/>
                <a:ea typeface="맑은 고딕"/>
              </a:rPr>
              <a:t>값을 임의로 보정하지 않습니다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3" y="4114800"/>
            <a:ext cx="5242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목표가 기초대사량보다 낮아도 올리지 않고 사실만 알립니다. 판단은 사용자에게 남겨둡니다.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64608"/>
            <a:ext cx="10637215" cy="896112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5138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8A5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5" y="501091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B22"/>
                </a:solidFill>
                <a:latin typeface="맑은 고딕"/>
                <a:ea typeface="맑은 고딕"/>
              </a:rPr>
              <a:t>부족도 관리합니다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3" y="5120640"/>
            <a:ext cx="5242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C4550"/>
                </a:solidFill>
                <a:latin typeface="맑은 고딕"/>
                <a:ea typeface="맑은 고딕"/>
              </a:rPr>
              <a:t>초과만 짚는 앱과 달리 섭취가 BMR 미만이면 안내합니다. 경고 대신 중립적 표현을 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식단앱 · 기능 소개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0B8"/>
                </a:solidFill>
                <a:latin typeface="맑은 고딕"/>
                <a:ea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960120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8FE3C0"/>
                </a:solidFill>
                <a:latin typeface="맑은 고딕"/>
                <a:ea typeface="맑은 고딕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무거운 결정이 늦어져도 개발은 막히지 않습니다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3326282" cy="2048256"/>
          </a:xfrm>
          <a:prstGeom prst="roundRect">
            <a:avLst>
              <a:gd name="adj" fmla="val 5000"/>
            </a:avLst>
          </a:prstGeom>
          <a:solidFill>
            <a:srgbClr val="1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3255264"/>
            <a:ext cx="274106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6FD9A8"/>
                </a:solidFill>
                <a:latin typeface="맑은 고딕"/>
                <a:ea typeface="맑은 고딕"/>
              </a:rPr>
              <a:t>수동 입력만으로 F1~F7 전부 동작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C4BD"/>
                </a:solidFill>
                <a:latin typeface="맑은 고딕"/>
                <a:ea typeface="맑은 고딕"/>
              </a:rPr>
              <a:t>사진 재료 인식이 기술적으로 가장 무거운 부분입니다. 초기 버전을 수동 입력만으로 출시해도 모든 기능이 동작합니다.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2706" y="3017520"/>
            <a:ext cx="3326282" cy="2048256"/>
          </a:xfrm>
          <a:prstGeom prst="roundRect">
            <a:avLst>
              <a:gd name="adj" fmla="val 5000"/>
            </a:avLst>
          </a:prstGeom>
          <a:solidFill>
            <a:srgbClr val="1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5314" y="3255264"/>
            <a:ext cx="274106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6FD9A8"/>
                </a:solidFill>
                <a:latin typeface="맑은 고딕"/>
                <a:ea typeface="맑은 고딕"/>
              </a:rPr>
              <a:t>외부 연동은 선택 사항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C4BD"/>
                </a:solidFill>
                <a:latin typeface="맑은 고딕"/>
                <a:ea typeface="맑은 고딕"/>
              </a:rPr>
              <a:t>웨어러블·건강앱 연동을 끄더라도 운동 선택과 직접 입력만으로 F3이 온전히 동작합니다.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8172" y="3017520"/>
            <a:ext cx="3326282" cy="2048256"/>
          </a:xfrm>
          <a:prstGeom prst="roundRect">
            <a:avLst>
              <a:gd name="adj" fmla="val 5000"/>
            </a:avLst>
          </a:prstGeom>
          <a:solidFill>
            <a:srgbClr val="1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0780" y="3255264"/>
            <a:ext cx="274106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6FD9A8"/>
                </a:solidFill>
                <a:latin typeface="맑은 고딕"/>
                <a:ea typeface="맑은 고딕"/>
              </a:rPr>
              <a:t>데이터 출처는 확정이 필요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C4BD"/>
                </a:solidFill>
                <a:latin typeface="맑은 고딕"/>
                <a:ea typeface="맑은 고딕"/>
              </a:rPr>
              <a:t>음식 영양 DB, MET, 레시피 출처. 데이터 품질이 추천 정확도를 좌우합니다.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58384"/>
            <a:ext cx="10637215" cy="12801"/>
          </a:xfrm>
          <a:prstGeom prst="rect">
            <a:avLst/>
          </a:prstGeom>
          <a:solidFill>
            <a:srgbClr val="22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14416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기준선을 세우고, 운동만큼 늘리고, 그 차이로 추천합니다.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3270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D9A8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